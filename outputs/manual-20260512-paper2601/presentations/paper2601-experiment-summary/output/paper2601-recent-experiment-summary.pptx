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600c2514144e3d" /><Relationship Type="http://schemas.openxmlformats.org/officeDocument/2006/relationships/extended-properties" Target="/docProps/app.xml" Id="R52740eca615d48b3" /><Relationship Type="http://schemas.openxmlformats.org/officeDocument/2006/relationships/officeDocument" Target="/ppt/presentation.xml" Id="Rf1dd36bd281e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ca3f02e064633"/>
  </p:sldMasterIdLst>
  <p:notesMasterIdLst>
    <p:notesMasterId xmlns:r="http://schemas.openxmlformats.org/officeDocument/2006/relationships" r:id="Re0184c9e2c5946ca"/>
  </p:notesMasterIdLst>
  <p:sldIdLst>
    <p:sldId xmlns:r="http://schemas.openxmlformats.org/officeDocument/2006/relationships" id="256" r:id="R7169f83ed41f458e"/>
    <p:sldId xmlns:r="http://schemas.openxmlformats.org/officeDocument/2006/relationships" id="257" r:id="R82952102b76340e9"/>
    <p:sldId xmlns:r="http://schemas.openxmlformats.org/officeDocument/2006/relationships" id="258" r:id="R1d1d7ea5b9564168"/>
    <p:sldId xmlns:r="http://schemas.openxmlformats.org/officeDocument/2006/relationships" id="259" r:id="R3b1a19745d0e454c"/>
    <p:sldId xmlns:r="http://schemas.openxmlformats.org/officeDocument/2006/relationships" id="260" r:id="R2a5cef43945b495e"/>
    <p:sldId xmlns:r="http://schemas.openxmlformats.org/officeDocument/2006/relationships" id="261" r:id="R2036639e26b04092"/>
    <p:sldId xmlns:r="http://schemas.openxmlformats.org/officeDocument/2006/relationships" id="262" r:id="R829c09f4ca0841cc"/>
    <p:sldId xmlns:r="http://schemas.openxmlformats.org/officeDocument/2006/relationships" id="263" r:id="R80e10f8fd68e4cc5"/>
    <p:sldId xmlns:r="http://schemas.openxmlformats.org/officeDocument/2006/relationships" id="264" r:id="Rf438a9770efd4246"/>
    <p:sldId xmlns:r="http://schemas.openxmlformats.org/officeDocument/2006/relationships" id="265" r:id="Rddd3cfe53c3b424b"/>
    <p:sldId xmlns:r="http://schemas.openxmlformats.org/officeDocument/2006/relationships" id="266" r:id="R51715d2d18bb4f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ca3f02e064633" /><Relationship Type="http://schemas.openxmlformats.org/officeDocument/2006/relationships/theme" Target="/ppt/theme/theme1.xml" Id="R654652e78557402d" /><Relationship Type="http://schemas.openxmlformats.org/officeDocument/2006/relationships/notesMaster" Target="/ppt/notesMasters/notesMaster1.xml" Id="Re0184c9e2c5946ca" /><Relationship Type="http://schemas.openxmlformats.org/officeDocument/2006/relationships/presProps" Target="/ppt/presProps.xml" Id="R4a52712d2bdd4094" /><Relationship Type="http://schemas.openxmlformats.org/officeDocument/2006/relationships/viewProps" Target="/ppt/viewProps.xml" Id="R82346ddabd984c4c" /><Relationship Type="http://schemas.openxmlformats.org/officeDocument/2006/relationships/tableStyles" Target="/ppt/tableStyles.xml" Id="R7df2a1d6f1504d95" /><Relationship Type="http://schemas.openxmlformats.org/officeDocument/2006/relationships/slide" Target="/ppt/slides/slide1.xml" Id="R7169f83ed41f458e" /><Relationship Type="http://schemas.openxmlformats.org/officeDocument/2006/relationships/slide" Target="/ppt/slides/slide2.xml" Id="R82952102b76340e9" /><Relationship Type="http://schemas.openxmlformats.org/officeDocument/2006/relationships/slide" Target="/ppt/slides/slide3.xml" Id="R1d1d7ea5b9564168" /><Relationship Type="http://schemas.openxmlformats.org/officeDocument/2006/relationships/slide" Target="/ppt/slides/slide4.xml" Id="R3b1a19745d0e454c" /><Relationship Type="http://schemas.openxmlformats.org/officeDocument/2006/relationships/slide" Target="/ppt/slides/slide5.xml" Id="R2a5cef43945b495e" /><Relationship Type="http://schemas.openxmlformats.org/officeDocument/2006/relationships/slide" Target="/ppt/slides/slide6.xml" Id="R2036639e26b04092" /><Relationship Type="http://schemas.openxmlformats.org/officeDocument/2006/relationships/slide" Target="/ppt/slides/slide7.xml" Id="R829c09f4ca0841cc" /><Relationship Type="http://schemas.openxmlformats.org/officeDocument/2006/relationships/slide" Target="/ppt/slides/slide8.xml" Id="R80e10f8fd68e4cc5" /><Relationship Type="http://schemas.openxmlformats.org/officeDocument/2006/relationships/slide" Target="/ppt/slides/slide9.xml" Id="Rf438a9770efd4246" /><Relationship Type="http://schemas.openxmlformats.org/officeDocument/2006/relationships/slide" Target="/ppt/slides/slide10.xml" Id="Rddd3cfe53c3b424b" /><Relationship Type="http://schemas.openxmlformats.org/officeDocument/2006/relationships/slide" Target="/ppt/slides/slide11.xml" Id="R51715d2d18bb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a9c5e7449242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e85d4a55046aa" /><Relationship Type="http://schemas.openxmlformats.org/officeDocument/2006/relationships/notesMaster" Target="/ppt/notesMasters/notesMaster1.xml" Id="Rc900b774ddbc45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785f6c04004d89" /><Relationship Type="http://schemas.openxmlformats.org/officeDocument/2006/relationships/notesMaster" Target="/ppt/notesMasters/notesMaster1.xml" Id="Rb5d06ccf7bf5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31695d57c43ca" /><Relationship Type="http://schemas.openxmlformats.org/officeDocument/2006/relationships/notesMaster" Target="/ppt/notesMasters/notesMaster1.xml" Id="Rc7b9d860aac3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1cb1a777f4b68" /><Relationship Type="http://schemas.openxmlformats.org/officeDocument/2006/relationships/notesMaster" Target="/ppt/notesMasters/notesMaster1.xml" Id="R804fe459d941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b9ec1f78684fb3" /><Relationship Type="http://schemas.openxmlformats.org/officeDocument/2006/relationships/notesMaster" Target="/ppt/notesMasters/notesMaster1.xml" Id="R7944ce77872543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38f5f891c540e9" /><Relationship Type="http://schemas.openxmlformats.org/officeDocument/2006/relationships/notesMaster" Target="/ppt/notesMasters/notesMaster1.xml" Id="R16fcaaa8d26e4f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5724a735f34a63" /><Relationship Type="http://schemas.openxmlformats.org/officeDocument/2006/relationships/notesMaster" Target="/ppt/notesMasters/notesMaster1.xml" Id="R6dfa7335ec74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e207d050f94b43" /><Relationship Type="http://schemas.openxmlformats.org/officeDocument/2006/relationships/notesMaster" Target="/ppt/notesMasters/notesMaster1.xml" Id="R954d1734b1254e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78d4af8d74695" /><Relationship Type="http://schemas.openxmlformats.org/officeDocument/2006/relationships/notesMaster" Target="/ppt/notesMasters/notesMaster1.xml" Id="R408d9c8cf1864a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eeaa412a4e4bba" /><Relationship Type="http://schemas.openxmlformats.org/officeDocument/2006/relationships/notesMaster" Target="/ppt/notesMasters/notesMaster1.xml" Id="R080c648c3e7d49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d9a05160ce4628" /><Relationship Type="http://schemas.openxmlformats.org/officeDocument/2006/relationships/notesMaster" Target="/ppt/notesMasters/notesMaster1.xml" Id="R65af2ebadfa6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8fe275a524c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37afb0f9994800" /><Relationship Type="http://schemas.openxmlformats.org/officeDocument/2006/relationships/slideLayout" Target="/ppt/slideLayouts/slideLayout2.xml" Id="R09a3350ae93846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3350ae93846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76214a836435b" /><Relationship Type="http://schemas.openxmlformats.org/officeDocument/2006/relationships/notesSlide" Target="/ppt/notesSlides/notesSlide1.xml" Id="R94ffea26bbf3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3851ca88141e6" /><Relationship Type="http://schemas.openxmlformats.org/officeDocument/2006/relationships/notesSlide" Target="/ppt/notesSlides/notesSlide2.xml" Id="Rb9cffc20103846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662a1af8b449d" /><Relationship Type="http://schemas.openxmlformats.org/officeDocument/2006/relationships/notesSlide" Target="/ppt/notesSlides/notesSlide3.xml" Id="Reb8c29daee91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e4de871714fd5" /><Relationship Type="http://schemas.openxmlformats.org/officeDocument/2006/relationships/notesSlide" Target="/ppt/notesSlides/notesSlide4.xml" Id="R2b594468f7e146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6ac5beb5d44464" /><Relationship Type="http://schemas.openxmlformats.org/officeDocument/2006/relationships/notesSlide" Target="/ppt/notesSlides/notesSlide5.xml" Id="R0ce13193c71a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cb40d79f844165" /><Relationship Type="http://schemas.openxmlformats.org/officeDocument/2006/relationships/notesSlide" Target="/ppt/notesSlides/notesSlide6.xml" Id="Rbf6d9001f8af41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362f7ffcba4467" /><Relationship Type="http://schemas.openxmlformats.org/officeDocument/2006/relationships/notesSlide" Target="/ppt/notesSlides/notesSlide7.xml" Id="R02ca0566747e43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cfdd75258b4f4b" /><Relationship Type="http://schemas.openxmlformats.org/officeDocument/2006/relationships/notesSlide" Target="/ppt/notesSlides/notesSlide8.xml" Id="R168916a3ea10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d58a1cda14605" /><Relationship Type="http://schemas.openxmlformats.org/officeDocument/2006/relationships/notesSlide" Target="/ppt/notesSlides/notesSlide9.xml" Id="Rdcf5400c859047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5ac8a7e19407d" /><Relationship Type="http://schemas.openxmlformats.org/officeDocument/2006/relationships/notesSlide" Target="/ppt/notesSlides/notesSlide10.xml" Id="Ra7f6e9df7eaa40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ae8914a204f12" /><Relationship Type="http://schemas.openxmlformats.org/officeDocument/2006/relationships/notesSlide" Target="/ppt/notesSlides/notesSlide11.xml" Id="Rfb4c73d889b54e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CB9D5-5E5C-4006-8EC2-4A51E02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52B08-2073-4E0B-B41C-415BBFD8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FDBD3-2F70-499F-ADDB-82D5E24F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EEB25-0F06-479C-9604-98769871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完整 131D 静态特征在内部集好看，但外部 SVD 泛化失败。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CB497-CCE6-4A7D-A45E-F0F73AA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最近一轮实验把问题从“模型结构”定位到“静态特征的跨语料偏移和阈值校准”。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ACE6-4260-4D3D-ABC2-B335477D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FC709-1EDE-4CDC-8B48-114D90C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341DE-C302-42C5-9043-733746A7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105C2-0E0E-4B2D-A798-D34012E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3F1D-FED6-43B7-9564-082FC794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235C7-1D52-4C02-97BD-F79F5D4E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 local5 SVD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DCD75-0A62-4639-A0B8-918FE5D8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Youden 后仍然很低，说明不是单纯 0.5 阈值问题。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A693D-B5F1-4DD9-8387-1DB23182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B04AF-DE42-4C60-A646-9A7D300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81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61EB4-1705-4F07-867E-1BCA3F54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0.838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CBA35-3B41-4336-8F84-1701690C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 local1 SVD 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77A69-9962-4750-99BF-BC9030A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241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只保留 HNR / jitter / shimmer 后，外部排序能力恢复。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43DB5-FA12-4754-A04B-6406504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1FC26-DE7F-43D6-880D-BF79CDCA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81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96C94-773A-431F-A15F-C3B24A77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0.788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44ACF-9DBD-4C68-AF3B-B11D5C01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best balanced SVD F1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212378-F39C-41AF-A9BC-B2EB090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pathology22 local1 + SVD independent scaling 的诊断上界。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4A2AB-B5CB-41AA-B927-927FE1E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ED081-DBB8-4EFB-9095-3465ABB4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5F14E-4047-43D9-8533-B631F3A7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0.776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455C0-E1F0-4E5D-AF87-59A7A79E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strict candidate SVD 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E0369-5D30-44D4-A697-96B98B8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source_tilt local5 + EENT-train scaling，不用 SVD 自己缩放。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C58F0-356D-40BC-B695-764528A9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276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C88061-BA37-45D7-89A1-676A8A4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3A4D8-50AA-4A7A-84F5-783D91D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主结论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4EAF13-F7D1-4F03-BCC4-8349100B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不要把 all131 当主模型。它在 EENT 上接近完美，但对 SVD 的 AUC 只有约 0.59。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FED5D-27E6-4F78-92CE-CF1A2CD5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90950"/>
            <a:ext cx="3276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8E861-6FA8-47FC-864A-8FF8F72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909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24734-F6F1-4998-9044-0F3C23B0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可用方向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B766EA-ED56-46F8-9C07-02F7AEC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pathology22 和 source_tilt 是当前最值得继续推进的两条线。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CEBCF-1EAC-4324-A5E9-0BC9813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276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F01F29-809E-4AD5-9C74-4B6D615A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276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F9AE1E-CE81-4B32-8C38-00EE1AA0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诊断意义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B9850-8C72-48B8-AF54-11BF2856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SVD-independent scaling 明显改善结果，证明 static feature 的分布尺度偏移是真问题。</a:t>
            </a:r>
          </a:p>
        </p:txBody>
      </p:sp>
    </p:spTree>
    <p:extLst>
      <p:ext uri="{BB962C8B-B14F-4D97-AF65-F5344CB8AC3E}">
        <p14:creationId xmlns:p14="http://schemas.microsoft.com/office/powerpoint/2010/main" val="769244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40755-4515-4498-8425-8391D607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26B5D-88A1-4ADE-9469-A9B8201E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B5A01-567B-4DE5-AC17-D7CD2AA4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EXPERIMENT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AE785-3E9C-46D2-98FC-2C9A205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实验矩阵覆盖 4 种静态特征方案、2 个 local epoch、3 种评估视角。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7BE8A-C7EC-4273-9EC0-87E53EB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Stage 1 MAE 复用；所有消融只重训 Stage 2 Attention-FFNN classifier。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51FFF-F653-47F7-A73B-BD541E7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2FEB2-898D-4008-91BB-025CED2D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D001A-78F1-414A-98F1-59D974BD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1AD10-8A98-469D-8E25-9F7775AE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324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805C7-DFFD-45DF-B7EE-98C4A93D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24289-056E-4204-8DAA-EC213A22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131D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73D0B-AABF-41E9-8520-23164A9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完整 OpenSMILE + Parselmouth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7C9A9-7B05-45A4-9107-A823D1B3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D4D52-CC95-4E00-AF00-EE199798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324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693C6-765A-465B-AC34-7161F30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DAE6C-3109-47EF-9961-4127F0F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22D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50817-1318-49B7-B474-3912386A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HNR + jitter + shimmer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9D413-6098-4DE0-B0C1-B85822D6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89DC3-6F2D-4154-9416-5875B5D6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2324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4AC98-6335-4963-9FE3-6EF26837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824CC-0BB7-4994-8BE1-C8381F9E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26D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AE036-C28B-4051-8CDC-6A3384C8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 H1-H2 / H1-A3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DC227-D42E-496B-BE36-0C217A0A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568C0-02FD-49BC-B025-7A4A258F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2324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6DFC9-00C8-4DDE-BA46-BBFCDBC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28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D6842-FFFF-4CF2-A070-AD8A57F2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098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rPr>
              <a:t>32D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84502-2062-4E68-9650-A9F7F64B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985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 voiced/unvoiced stability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3A2AAD-0E25-4D15-B1D0-63965B68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E038F-6354-4E3E-8C06-1038437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Training variants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63F27-AF71-4E5E-86CC-3EC24A7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82BBC2-E93E-496E-9515-85D2719C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535A1F-3BB1-4F42-909C-5A0FE47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local1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C49E2-00E8-4E86-97A6-92752D4D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2228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Stage 2 每个 global round 内 local epoch = 1；通常更少 client drift。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9D82C3-137E-4A80-8631-A9174E8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B53591-E667-4384-90F0-606F5CEC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481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0316F-8BFC-42A3-9DDF-0557C25C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38625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local5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40C98-CAB3-4872-B5DE-1C4C653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24375"/>
            <a:ext cx="2228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更高内部拟合；多组实验里训练 F1 接近 1.000，需警惕过拟合。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9C0293-5C99-4FFC-B712-7119AA58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2E1471-27CD-49CD-90A1-AF4CEE01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Evaluation lenses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5A79F1-0EDE-4B2D-B096-4EC31793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2038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777566-A0FD-4070-8FD9-8E844659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48125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FA40B3-6245-48B8-965F-A1185FD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fixed 0.5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0DA921-14B9-4B17-BE48-1392A79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24375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部署式阈值；暴露 full 131D 的 SVD 全阳性塌缩。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749C2F-ED26-464D-9181-D581920D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038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D3C8E0-560F-40F0-AC1C-45EFF62C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48125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E1BF0D-3750-4D91-8835-4450A23E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Youden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851721-C637-489A-8DAB-992C2477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24375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argmax(TPR-FPR)；看 ranking 上限，不是正式测试协议。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B7827F-BDEB-4C9A-A7FC-D3F37DFA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2038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E494A7-F7CB-49A1-95E5-533DB68E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09E37F-4EEB-4A7E-A039-36CFAD3C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10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scaling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4085AD-4470-4EDC-A777-CBF9993A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95950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诊断分布偏移；使用 SVD eval 统计量，不能当主结果。</a:t>
            </a:r>
          </a:p>
        </p:txBody>
      </p:sp>
    </p:spTree>
    <p:extLst>
      <p:ext uri="{BB962C8B-B14F-4D97-AF65-F5344CB8AC3E}">
        <p14:creationId xmlns:p14="http://schemas.microsoft.com/office/powerpoint/2010/main" val="4727124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EC0A6-FE1D-411C-873F-1C5E8D89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9A86F-9342-44E8-AC5C-877067B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304DB-807F-4549-A1E4-8DEAEC2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FIXED-THRESHOLD FAILURE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95879-151B-4241-9471-7C8B910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0.5 阈值下，all131 在 SVD 上直接退化；病理声质特征能把模型拉回来。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77B19-A426-489A-A977-D2FA38D0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这一步说明 full static feature 的高 EENT 分数不能代表外部泛化。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BCC27-5398-4545-AD7C-941A8F1F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51BD-4820-45F7-A997-6005FB0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F9931-7CA2-47C4-9935-7B80F0C0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Representative fixed-threshold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E0E6-9C5C-4D9A-8D10-6001D100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D8BAF-6A63-4295-9CA2-CF883A5C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812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all131 local5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CE22C-B09C-456C-A8D2-A419704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812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EENT F1 0.951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D3274-B00C-42D0-939C-FF79B78D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812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SVD AUC 0.593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A1CD2-951E-4AA1-8D7C-5125305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A5B59-E956-4D69-B3C7-FA53DB2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12991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E00E4-B75E-4577-8939-EDECB98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812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SVD F1 0.667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FCFB6-9DD2-4BCA-9B6A-764B820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159DF-1FD7-4623-B322-65BF950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277EA-62C6-4C2D-857F-46A505E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13360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89F46-1CED-4606-817E-E8C6DDA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19075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9807D-8779-4E08-85F3-4B93706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7648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4EC3F-9032-43F0-826C-DF87213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363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EB465-05E3-47C7-B8C8-54B21EBF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37648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7870E-5D44-41B9-AB92-89EE27C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43363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A393C-A24A-444A-A6B0-C0E1F3D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62175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fixed 0.5 threshold collapsed to all-positive on SVD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4213E-361A-47C6-8869-CF6D22A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DB2E8-39CB-463E-8FF9-3BBF1D0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 local5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1D8E2-5F18-498A-B057-B9C08D19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622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EENT F1 0.912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AE03-F61D-48D0-8347-4BE8BDC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622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AUC 0.820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037E08-C222-441F-AF11-F96357D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9D0D4-96D8-47F5-810B-E004F8D7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17961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8B8EA-8579-49B6-AD82-86F6C0D6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622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F1 0.762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5CB8E-6BF5-49C3-83BA-DB4E257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9569A4-090F-43DB-AD2A-4F42564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44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6F2C8-C252-4DC4-BB78-E575FA8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91465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1CCA86-C71B-46A5-988B-FC7AC9E7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97180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522B7-DD6C-4E70-B7EB-F32A35DF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5753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8274AF-F1DC-47B4-AFFE-A1A2BB9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468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88B521-E76E-4EF1-BBA9-F51008A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15753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62C298-C464-4F68-93C8-36E75AC1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21468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96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D3F09B-791F-47B1-9FE2-A14D595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43225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feature restriction restored SVD ranking and non-degenerate predictions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CB7597-9F91-4FDB-A3F8-98DB08F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0A4304-9AB1-44F0-81B2-46F1E62D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 local5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494112-CD61-4880-82F2-0E5DE6A3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4332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EENT F1 0.890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197653-C24C-4B0E-8B18-FEB33A9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433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AUC 0.834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0ED8C4-5D0E-41B8-8FEB-141A0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4C7D39-201A-4200-8B78-702984B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0000"/>
            <a:ext cx="182686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F81907-1611-4259-82AA-049506F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4332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F1 0.722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02C23A-0EB9-4EE0-9B14-D3E65D18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9570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BC2A1F-D6F5-4F91-8633-A296D14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41230E-A6E4-41BD-9E2F-7354A8A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69570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9DF269-46FE-4875-99DD-84BB3B26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75285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68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5458B1-9751-43ED-8C5E-74D071D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3858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6544DA-5C3A-473A-8F62-66C66C0C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9573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BA5918-8EA6-4E55-93AA-2D5F3275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93858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E526D2-7D25-47EF-8F2E-85F78649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99573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95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D7739B-0228-4887-9462-75021926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24275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source tilt helped AUC but fixed threshold remained positive-biased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77B5AC-C667-42D6-97FD-95CA1F7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82A0D3-D304-4297-82D4-AA64D59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 local5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B82F7B-DF71-40CB-B422-504F1695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24375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EENT F1 0.923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741C1B-0B03-49E1-BF84-93AAE29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243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AUC 0.811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30D50B-56BE-4EB8-8FBF-02142A0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B68159-91B5-41E4-8ABD-4F2FDC4A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1776479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C69A87-0BFD-44A1-AAC7-D85686AE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SVD F1 0.738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A719BF-7E85-4256-8DE9-E1745943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0F48BB-5E24-43C5-9B10-F08D6C2C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3390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444F33-8109-48CB-B5D5-DDFB61A7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4476750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FF085C-0FC9-4A64-8CB7-09D36CA6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4533900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66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DE2632-5325-4450-8A41-1F28528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1963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9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F8B9A1-5F94-4FCF-AE6C-037547A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7678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B6321D-ED8B-4225-8A5A-6E79D504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4719638"/>
            <a:ext cx="223838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D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47EBA4-6FC3-4999-B160-4484754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4776788"/>
            <a:ext cx="223838" cy="12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97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897642-FC55-4C28-A5CC-3AF42BCE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05325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voicing improved EENT but kept many SVD false positives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1EFD12-A445-4A21-A6E8-C8F0564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ECDC5D-08A7-4E78-8CDE-D327296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Interpretation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CC1CAE2-25F0-4A89-B9A8-42BEB59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full 131D 的问题不是 AST backbone 本身，而是 Stage 2 静态特征分支学到了强语料/设备/语言相关边界；删掉高风险声学描述符后，SVD 不再全阳性。</a:t>
            </a:r>
          </a:p>
        </p:txBody>
      </p:sp>
    </p:spTree>
    <p:extLst>
      <p:ext uri="{BB962C8B-B14F-4D97-AF65-F5344CB8AC3E}">
        <p14:creationId xmlns:p14="http://schemas.microsoft.com/office/powerpoint/2010/main" val="1147937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0262ED-F551-4CEC-8A5C-2B3F5C6E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FF240-B8E0-4977-91A6-565F7D8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7B77D-783E-404E-8A66-E6BAD34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YOUDEN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FF30C-857C-4320-B898-0D5842E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在最优阈值视角下，full 131D 的 SVD 排序仍弱；消融特征显著更稳。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5EA58-5841-4411-9018-ADF0C83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表格只显示 SVD /a/+/i/，使用 EENT-train static normalizer。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16F30-5A88-424C-A417-85CB012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DBC91-69CE-49F1-9322-3BE9522D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DA186-C3F2-43F0-88C3-B722770D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04AB8-FF7F-40A8-9D01-5852B589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static 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1E77A-505A-4AC6-BFD3-A24E8092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431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87B2D-DED2-4A9E-9516-D0CFD5CC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97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6AA4D-6311-42A0-BD4F-FFAED20F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C2BEF-E65A-4F29-83CD-CEEC9EDE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97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5D45F-71A0-4FFC-B587-F98FCD28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431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FF64F-88EB-4549-8E77-BCEAC214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97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156C8-359D-4C30-8051-09B9DFE7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431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5E3A7-AD77-4801-9F36-D79E57EA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EBF54-5567-448C-BC0D-55E0D715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80A2D-26D6-4665-80F7-CE18D536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97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5CA353-5D00-4064-B5D5-254BD72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F3B2F-DB55-4EBD-AD09-28CE5F81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97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44727-9E15-4051-8AD5-83A56FCC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648A0-C31C-4DB7-8780-043747D0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ECCAB-C939-4957-A294-FA2E1380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385EE-021F-4B59-B7B5-014F5575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7172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A7100-CC45-49E9-BF7A-2FF30826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6AC70-0350-4F02-B337-8DB4B8B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47635-9E71-4332-9E8F-CD37551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2F0ACF-205A-4058-8669-76ADBF3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717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0.435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A2315-4E5E-48E1-AA51-936569BB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C0006-A4A0-4B53-87A2-9F72BA4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717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7D759-7EF9-4849-8D42-0CEFE1F2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050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C8F71-725C-4005-B4F0-57E3F40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717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C16E32-6262-4AC5-94B8-263DD6F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FE0B8-B6DF-4CAF-90C1-7C0F99D8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717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[92 8; 70 30]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E4A882-5FA9-4E1A-97D1-9D6AC016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EC43A9-2DE1-48C0-B921-1B85251A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BDBF96-9D09-40E8-84EC-0BF4D06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66B88B-D900-4BC3-B89C-AEAE6C59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336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B5A3AB-DEAC-4F36-A94F-ED54EB6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1D95CB-F725-4FE5-B320-ACE88D3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0.593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FC595B-9778-4300-830D-BDA5D78A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E80085-04F0-4C12-9332-29C672E9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336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0.552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BBE1C9-E777-4F3D-9BDC-4FBF9AF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F336F-0D0E-432C-8E10-4F779277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336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0.48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BDAB3-B262-4FF8-99D3-B5CFC68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67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27387C-5E33-483F-BF24-9A5E741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336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69437C-93D2-4E3C-B794-3FBFD58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670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8A1E6F-9072-47BF-AC49-A6CD9A37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336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[74 26; 52 48]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068E1E-6F53-435F-A1D6-E000AE0E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4CC220-CB59-42A3-BD6D-DCA4ED8D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F7E91E-81B5-4B0F-B3AB-B97896FF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CC1412-234F-4111-851D-8199DD9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9562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E55E48-F69C-4335-A740-AA3FC048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056ED0-6CCC-4790-BBF4-0158C05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956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0.838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04EADE-B3EA-4994-929F-DE893CC1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AB7AF8-5177-419A-9EAE-A80F332B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956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0.779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D26E06-92CF-40C0-958D-C8B6FF8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18F2B3-E19D-4EA2-ACB4-9EB4E37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956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4ADC8C-4CC2-4ED0-8ECF-A55E877E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600E96-635D-4EF2-BA89-93D29850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956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09981FB-18A1-4605-9F74-F8396495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289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FA3CC6-E7C8-4EAF-8A5E-C091670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[73 27; 19 81]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2C2422-CD86-436D-9585-E53AAEBF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A5603B-3C28-4D64-9BDE-2A0808BD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1D8C68-97AC-465A-8FF6-BE353651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052099-D182-4EDF-9878-04619A83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575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0593B0-2E34-4365-B79B-421DF0D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37AF75-6DE0-4180-9321-14DDB648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575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0.820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BF3BF9-03FA-4B80-844A-FCB085B5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B01B95-72E7-4C68-9E78-744F400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575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0.740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AD9774-542B-4D08-A914-390F9AF3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90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BD97E6-2782-471A-BDA0-612FEFF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575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935239-0CC6-42B0-8080-0D17C0F1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87E383-8FB4-4B97-AD8B-B738E9F0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575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06CA02-1A2A-44F0-842D-5F0F56E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AA169AF-8CCC-433E-8B90-56306FB9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[74 26; 26 74]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1F63AB-8D8B-48DB-BC39-44A9A5D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7FDD44-97C7-4E39-A5CD-8AC6B4DF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E33865-012B-4399-979A-8942651D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E56D1F1-A94E-4740-8CA8-256E3885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1952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B320F4-5CAA-470A-A17A-85AA77C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528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A29D96-4B62-47AA-B06D-2E4C11E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0.836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AD6E00-9CC6-40CD-BC49-FFBB6A4C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C7A90B-88C2-484D-B23E-72CA56DF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195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0.741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94C332-7518-4F56-8C2E-CCA495C9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528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14E7AE-C98E-45A1-B774-2B817EF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195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0.63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CA87BC-383C-4E2A-86C6-A9680B7B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528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7D52ADE-21C0-45C6-9978-C670035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95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646F980-88BE-48DA-B801-278018D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528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2B0390B-1526-4376-B609-C2FC69B8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95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[93 7; 37 63]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6FC78BA-E6C3-44B5-8176-47FA8BE4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E82C8FC-1FBF-4D3B-9EF5-7B41E33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5D1C8B8-2485-484C-A1C2-5672E3F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E08607-00C2-455E-88AE-70D2802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814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D82FDF-3A71-4BF8-BDAB-4473C98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B0C299-9E02-4081-B982-7D6BBE6C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0.834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1537B3-2980-42BE-933A-ACBB79BE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9DFFFC-C13A-4B2D-BE43-30699A6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814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0.776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1FB6C6E-D640-4DFA-A701-272AFFEB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148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68F6B38-B851-4629-A2F2-D77ED9DF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814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0.78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7300E32-FFC9-413F-807F-9E51998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1A8504-4CB7-4904-8608-E9788117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814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64B180-7F0D-4416-9A15-A28978A6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B06675-D93F-47F3-8890-6642866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814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[77 23; 22 78]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9E0A48-FF28-434B-B10B-808AC2B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C74EEE-74D5-40DD-88C6-BD8FF739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67ED94-6FD1-496A-B551-60B8D77A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D5907FB-E22C-41AC-82D7-6FFF9E0B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4342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18AE45-444D-4A3F-B688-49A930C4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1138172-B9DF-4BD9-B55E-9769AB5B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D208ED7-1D8D-4D49-A93B-62D040F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F3C2AF-D474-4AFF-B53B-F3E6147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434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0.711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530C613-D95C-4901-BE1B-E617121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767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B649F7-2587-4501-B099-DED183B6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434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F63BC59-CB77-400E-AE62-7960538C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767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C345B35-37B6-42D6-B7EC-9AB6C668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4342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319765C-21F5-4B4F-BBEF-AA4374C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8DDF216-C130-452B-A166-460A3D00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4342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[84 16; 36 64]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BE86171-7550-430A-8454-15CB743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147B326-B38A-4013-9C16-72D5156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6A17DE8-21E2-4B9D-9746-ECD5DC6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3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8F9E6F8-4243-4FF2-BBF3-FD8AEF97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05375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722529-6527-4DF6-B736-DF76D1F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38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8E1F3B4-926B-496F-B5A4-2B02EBE8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053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FD19B65-39EC-4F27-ABE9-868D639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38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F7FE61-5F19-4F1B-9348-7ADA01A5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053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0.739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63A55D-1335-489C-B0CC-01552D7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D52692C-F286-43A4-95E3-9814C2FF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053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0.72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C2BCE12-365E-4678-A414-80E2C03D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C0A1D78-CCA5-4C35-BC4D-4B0FD3B9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05375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76D00ED-EDEE-4110-BD76-26915CD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58FBE62-EB5D-484B-A860-F11E01B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[77 23; 28 72]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43849F-7EFA-451D-94C3-BB5B7810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核心读法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16F5A79-1930-494C-8ADF-1535F24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0800"/>
            <a:ext cx="2714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all131 即便用 Youden 阈值，SVD AUC 只有 0.59 左右；这意味着 ranking 就已经坏了。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pathology22/source_tilt 的 AUC 稳定在 0.82-0.84，说明删掉高语料偏差特征后，外部排序恢复。</a:t>
            </a:r>
          </a:p>
        </p:txBody>
      </p:sp>
    </p:spTree>
    <p:extLst>
      <p:ext uri="{BB962C8B-B14F-4D97-AF65-F5344CB8AC3E}">
        <p14:creationId xmlns:p14="http://schemas.microsoft.com/office/powerpoint/2010/main" val="1532498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AF7E0-8110-424B-BD8A-B128F6B6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C4411-9A96-4CF1-9C1C-B481C36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0419C-C4E3-4229-8ED6-42512577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SCALING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7308F-267C-418F-B788-2D39BB42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SVD-independent scaling 改善结果，证明 static feature 分布偏移是真问题。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66D4A-4A06-4D4A-A18B-B79FE38B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这不是正式测试协议，但能区分“模型无信号”和“跨域尺度/校准错位”。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9BA4C-995D-4734-AA3D-4338BE2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441B9-C818-4C43-A374-3AC56402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C7820-AD45-463E-9A47-13220838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SVD Youden AUC: EENT-train scaling vs SVD-independent scaling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B851F-38FB-4B21-BC00-C5B8346C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 L1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C9C69-E9E7-4FB9-BAFF-42A8889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8C0B5-072D-414A-8A3B-28D8E29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24100"/>
            <a:ext cx="14603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B776-0395-40B7-997D-A28E9F1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C7B3F-7B5F-496A-A8C4-DEADAE7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88337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D8B78-783B-40E0-BF90-FBEA9966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860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0.590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3A84-2BFD-44A4-8922-9EDCEA7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384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0.760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F2BD0-3C78-45FD-BC48-EE87DCE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622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+0.171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03D29-B6E5-46E1-AE07-718A659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 L5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8C1FE-4325-4736-92B3-72B09DF2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95851-D795-4A6E-BCCB-44A6F0F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46856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0D723-C762-4E8A-804E-DDEF7D5B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A9ADF-0A26-46D0-8F50-A4E7C775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76550"/>
            <a:ext cx="178927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0A994-FF8C-49C7-BD7B-C0016872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0.593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754F4C-FACF-45D3-8637-46A3378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384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0.723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7944A-351D-4CD4-874E-BCC824A9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622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+0.130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9CA26-3156-4098-A3E0-1C433B81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 L1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21478-120C-4EE8-B492-0323FFC2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D4F1A-AD8F-4160-A8CF-686C7E72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07505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400B5-9339-48B2-99AE-A290668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EEAAE-29B3-4529-AB99-26D4009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208149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F081E6-DB4C-49D6-BDC4-B1F6019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D623A-4911-41CD-9BF8-EFA5D1FF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084F4-F2AD-4BEA-B6DE-03D6DFD2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+0.003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FD3F38-FF14-46FB-89A9-F2935E9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 L5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989D2-D5D8-49D8-B961-D171F01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70529-3577-4084-9117-B3D08BA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203048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F690F-32A9-4F4B-A0A9-986FCD6D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FA8715-A087-451F-9392-74AD6B69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20515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2FCE1-3557-4670-82E4-58BE40F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3B766A-4016-4D7F-B5F7-F7747F1B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385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0.828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DD373A-F738-400F-B15A-14F05BC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+0.009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98866A-25DF-4AEB-BF55-8B4975D4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 L1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AF7E58-0F65-435C-964F-05581DA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5EBB44-2A33-4487-8486-783E78D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207134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EC23E3-1E04-4D7B-9882-5652620E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765731-8709-45EF-9192-266AF2E7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76700"/>
            <a:ext cx="21305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EE162-9F7D-4ED1-A91C-49821632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0.836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31F455-AABE-4544-910D-055543FA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0.860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5385C4-E370-4D9B-9033-C6007995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624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+0.024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3F99C2-F973-4994-BF55-B644460E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 L5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98DDCE-D60C-42DB-AD2F-A8D60B4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586BE9-52B5-4B1B-B798-CCAE5676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20651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18C8C7-5B32-4A37-8503-043CD7F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17289B-E4F2-442F-9717-830E442D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0567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1CC4EF-A6FA-4E74-BE8B-C358A4D0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862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0.834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E9BAAF-6DB7-4AF5-9BD9-E987D48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0.831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808122-E7BE-401C-BCD2-60B8A0D2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-0.003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B7274F-767C-4503-8DF6-C719DE01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 L1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A86216-F657-445E-B1C3-4B452A78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A23343-CF80-4C37-ACCF-80EC6997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200769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A22035-9F71-48A7-BAAA-20EE7A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753CE6-2894-427A-AECA-81E2F241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204509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F51C35-1062-499B-85DF-4B408D0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863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7A36C6-4876-42CE-98E3-D4477EC2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0.826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233C92-D363-4FB0-B010-22F577DD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625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+0.015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BEACAD-771B-444D-9574-2EBC0EE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 L5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29C9F9-F227-4727-A711-FE57DF64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0AF442-E18B-4E20-B276-8DF2767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200819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F4BD20-24A3-4F1B-922C-54809EA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8AC798-8B2B-4A50-9D3C-4B1ABD7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200745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3501F5-8A39-4AE9-81DE-D9420DA2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863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699124-B221-4E9D-959F-4D14150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2387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62CD33-F136-44E9-873C-8B6E7F50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625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-0.000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1D407A-0045-4565-8577-3FC4DC77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10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EENT scaling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27D690-3DCF-436D-8E10-D82489B3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102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SVD scaling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FD1134E-EFE4-461D-94C4-B007519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C39201-96E8-4349-9D34-8CA9549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F6057D-9D0D-4434-A974-1284A1F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812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Biggest diagnostic lift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A55A87-8963-4BF6-ABE3-19070E62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6700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all131 local1 AUC 0.590 -&gt; 0.761 after SVD-independent scaling. That is calibration/domain shift, but all131 remains weaker than pathology features.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ABE502-3ABE-44D2-BDAC-2CA62DE1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433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8939F5-7879-471F-BA95-1B9F77FD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433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D8E335-5BB4-4B27-A575-D5232008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338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Stable strict candidate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59BFE1B-9BD4-46E6-85E9-62EEFE9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19550"/>
            <a:ext cx="2990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source_tilt local5 reaches SVD F1 0.776 and AUC 0.834 using only EENT-train scaling.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6E9559-ED58-43DD-9B84-A4966795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9585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7715501-D130-4EC8-B58D-677E187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958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DE2909-EC7D-45B5-9C8D-A41BEA9E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0863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Protocol warning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B15A5F3-4DA0-41A0-BF06-F8E94DE5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3721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SVD-independent scaling uses test distribution statistics. Treat it as diagnosis, not final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7281867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C137B-A27F-4A4C-9655-77F0FB0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2EC21-D1A0-4AF9-891B-FA21AC3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EAEB7-2405-4353-83E6-B3289143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FEATURE ABLATION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2B097-6186-468D-822A-2FE40B9F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删掉 pitch/formant/MFCC/loudness 后，保留下来的特征更接近病理声质。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A1077-C148-4DEE-9844-3DD7FD70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当前 131D 表没有 CPP 列；CPP-like 规则已写入，但实际没有命中。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F2463-0BDF-4F54-AC3A-01A1806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29CB0-9EEF-4D2F-BBF4-EA2AC3C3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BC002-6DFD-4055-9670-3249FFA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A9A92-B99F-4B74-BE36-6A25121E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E4AED-A237-4A8C-B541-65007D5B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E97E4-55C3-4A0A-A056-77F89A28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860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131D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D8EA5-3574-4577-806D-BF981789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 OpenSMILE + Parselmouth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47168-BE85-48B3-B968-0E067950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highest corpus/device/language bias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9E91C-997C-4892-9262-779643BA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9C189-159E-4787-AAE9-00EFF15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C77FF-A4E1-4161-A612-06FC6AD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4787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B4DD9-B655-4033-8AB1-51C0665B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47875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ED7E7-2D47-41A7-88EF-0701E43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955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7101B-20D8-4E7C-9306-FCB890A3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22D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517AA-D6C0-4064-B5C1-1844CE17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336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HNR, jitter, shimmer, CPP-like token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8186C-2B3A-42A3-B0E2-5456684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76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most conservative pathology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45D68-A167-4CE0-8943-60F5761E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624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27F31-68EF-404A-AD7E-FFC2C62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62425"/>
            <a:ext cx="3039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23678-C51F-48B0-825B-4D0E833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4787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7056F-3C02-4AE6-A14E-FAE6BFD3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47875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9CA813-EF3B-4595-BABE-8BE660B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955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11A02-1B32-4F2E-852C-365AD1A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860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26D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9F62B-455F-4A53-B01A-67A7C62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336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 + H1-H2/H1-A3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65710-FDB4-4C53-ADD5-AAB430F7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adds glottal-source spectral tilt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59C7B-2D82-4E26-9E36-FF6ACA2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DA7492-DD73-4A22-9CDD-7EF5E48F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35918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1F5D2-2171-4DF3-9518-D215AF7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4787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C1A60-E5CA-4211-A81E-04D25C3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47875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DA227-897A-4959-96AC-8EAB2071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955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52D824-AE45-4DC5-8DC3-7ADB4A71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86000"/>
            <a:ext cx="42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rPr>
              <a:t>32D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322AFE-F949-4216-ACDC-B2528F0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336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 + voiced/unvoiced stability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350946-DE9E-4B66-9C39-196D8AD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recall-oriented but false-positive prone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3642D-3B33-4993-9AF2-83A2F88D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62425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0BA3F1-368D-404B-ADFC-715E6FD1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62425"/>
            <a:ext cx="44207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1ED36A-869E-4DA4-819B-6DD5490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排除项包括 F0/pitch、formant frequency、MFCC、loudness/intensity、duration/RMS/ZCR、以及更容易承载语言/设备/预处理差异的大量谱形状描述符。</a:t>
            </a:r>
          </a:p>
        </p:txBody>
      </p:sp>
    </p:spTree>
    <p:extLst>
      <p:ext uri="{BB962C8B-B14F-4D97-AF65-F5344CB8AC3E}">
        <p14:creationId xmlns:p14="http://schemas.microsoft.com/office/powerpoint/2010/main" val="11690440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D957C-0D45-4A60-8F49-44F1AD9F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3C461-2656-4319-917C-B6DEA3F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23301-392B-4955-8E95-AABF3B9C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LOCAL EPOCH TRADEOFF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3B03F-B87B-422E-B660-C8F650D0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local5 更容易拟合 EENT，但外部最优并不总来自 local5。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471F2-B94A-425E-8BF8-47FB153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local5 多组训练 participant macro F1 到 1.000，说明 Stage 2 容易过拟合。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F4CBF-9261-4C53-AAB6-9C1E76B3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7F2E3-981D-45B4-A633-8E4C0AC0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3211E-1172-4608-BA8A-909E241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211FD-BB7F-45FA-AD91-B4B775CF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7CC03-E07A-4DD9-9862-780EBF3A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19300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9FEE2-7468-452E-8869-02E8B3FD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85975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E582-4952-4DED-87CD-9575DD9A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193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10E07-4426-4A20-8155-5BF85DC6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859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685E8-329B-4E8D-B283-83D25F7A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193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94D01-EE96-4AA2-B9EF-0DB4E21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859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ADBFE-3230-4B73-9888-BB657C20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88264-45F1-411F-8118-8CE97F3C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859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spec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0AC1E-0B8A-4214-931B-3E99189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19300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8028F-C0CD-457D-8AB6-FA78636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85975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35F78-A12B-4D58-BE91-3F5146F6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1AE6F-6CF8-4972-B3E9-FF06094A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47560-B884-4EBD-8796-3EF75DF0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90775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1613D-7BD3-4FA2-BA52-6DED651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04EDF-6CBB-4B8F-9646-CC92795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907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1652D-00B9-49AE-AF8F-82C324BF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9B167-7D26-4585-9F1B-E0846E9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907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E1D6D-D87C-4F7A-907E-3E2C8E73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08D7CF-A7E4-4A77-A76A-286DE5F7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907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9C77DA-9269-485D-A644-4043957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C6A83-9912-478D-9880-B4D4804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90775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A09612-38B3-4717-A17A-1D3D8DDC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balanced; best strict pathology22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E7F573-1FCE-432E-919C-232CD694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5592D-F9BD-4CFF-AC56-FEA2C8B0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39C067-48AB-4E59-BF8F-B86D9435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F0D6EE-729E-41FB-985C-469B1823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28925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2E990C-84F6-433E-A2DA-AAAD75B9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40434-C9AF-4FDF-BB34-641A2D28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51F3E2-B5FC-4515-88B7-02796170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42FF56-48F2-44D4-AD8C-A5A6FCB5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2892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C8BDE-7BF7-458E-A5E4-2A067146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EAFFC1-359E-4DF9-984B-C45BE6D5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8AC9A7-3B03-40FE-AD33-02D6DB0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31B00-2AAF-45B5-A556-C65DCA8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lower F1 under Youden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9CD4B9-E3F3-43C5-954D-EA739B0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3A631E-FB1D-4719-85D1-F7A18489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D52A32-7406-4B3F-AF40-7E3F5A04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1D99D7-8C63-4A5A-85DC-71ED3E32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D38AF6-98DC-4DC8-A892-3CF9B03E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ADC89B-28F3-43AD-AD08-F592C828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180C82-4315-4D6E-B42F-CA28CE71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C8AEEE-5A83-4F4A-9F0F-D55AE85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D4C787-C344-45CD-8ACF-2F5EBE7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3372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A71CFB-B820-4036-9335-CF0FAA07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EF838D-5030-4428-99CD-2CDDD14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33725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F4F556-3890-4133-89EB-783E14FF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high specificity, lower recall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3DD41F-E278-4FAE-8C66-7166A69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37F29F-C7F7-461B-A31F-71613DF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7AE012-AAD7-4A51-A147-4017C7E6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05200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65FC24-6467-4E6A-8A20-CF9CB34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71875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6E190C-24D4-41FB-A384-94A61FF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F55F22-9A0F-441E-96FA-EFC6F84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718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25618F-3302-422D-95DF-1F209003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20D34A-8433-417F-B768-40C3C695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718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91DD54-0799-4395-98A6-94DABFB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4168BD-C714-4436-AED8-E8DB4CE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71875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FC7C3E-6050-4C8F-AC2C-FB343FC2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5D3130-68D7-485E-B362-B7A23CB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71875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best strict candidate overall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F7B88D-C6ED-4671-8383-D8AAE6B9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714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E6EF46-60A1-4353-A7DE-1EACB930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562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A6A8F5-C144-4C5E-92B3-AC37924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76675"/>
            <a:ext cx="5524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50AC9A-DCF1-4A24-B70E-208CBF4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400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7F51CA0-BC48-4784-A016-B85C9865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766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A498F9-7BC6-4E35-AD29-6146DD26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F72516-0EB5-4046-91ED-4C8B850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3AD92D-D5F8-4AFB-9E5F-3865ECC4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2D6C699-1261-4864-987C-D2D393FD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76675"/>
            <a:ext cx="8191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02563A-6547-48FF-B0DB-F28F8646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66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F348FF-6F84-4D04-83C9-54F7FAD9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76675"/>
            <a:ext cx="3905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2C046B-8D10-48CB-A121-FBD8C27F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43350"/>
            <a:ext cx="375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better EENT, weaker SVD ranking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4BB61C5-6C80-427E-973A-29E08227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4139E6-CF84-4BA6-B6FF-1AEC6C5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4FAEDF-9CB1-40AE-8F99-C3C970CF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Readout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19151D-A139-456F-B4AA-D74C8435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609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local5 is not automatically better. It improves some EENT metrics, but can increase client drift / Stage 2 overfit.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C1A947-FB93-4CAF-A36E-30F4E0B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266461-1822-4F12-9CB4-79FD7C9D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84217B-327B-4182-8DB5-8A6BB75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81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Strict candidate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4697D2-803C-4C41-8545-8DEA20B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2609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source_tilt local5 is the strongest no-SVD-scaling Youden candidate: SVD F1 0.776, AUC 0.834.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A47CA5-E1B7-4EEE-BF7A-506B0B05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ED1CA8-03CE-4F5B-814C-19A25BA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A41B40-E798-463C-9925-C3A2C506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8155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Diagnostic candidate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AE026A-98D8-40C4-9BE5-869199A7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2609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pathology22 local1 + SVD scaling is most balanced: CM [80 20; 22 78], F1 0.788.</a:t>
            </a:r>
          </a:p>
        </p:txBody>
      </p:sp>
    </p:spTree>
    <p:extLst>
      <p:ext uri="{BB962C8B-B14F-4D97-AF65-F5344CB8AC3E}">
        <p14:creationId xmlns:p14="http://schemas.microsoft.com/office/powerpoint/2010/main" val="8363396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B64E5-5550-4B4C-982C-811EBFD6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A702A-3C75-4817-BD05-38D138D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EF5A6-6BC2-41C2-9FDB-F043CD03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936A0-08C2-4ECA-94D3-EA3CB7EE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下一步应该围绕 pathology22/source_tilt 做校准，而不是回到 full 131D。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F1A05-B154-4F6B-AF92-E492491D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目标是提高 SVD specificity，同时保持 EENT 内部性能不过度牺牲。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B9EFA-C196-4E3D-AAA9-6E03141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289CC-0F57-4D33-829F-6ACC91B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B4C42-EC80-47E5-8CFF-ED811944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89FFC-E2CB-4D0B-8D23-DC72A3E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B4F65-91F4-4C26-A083-466C42CC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1. 主线候选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AE346-0260-403F-BBFE-3C8B93F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Use pathology22 local1 and source_tilt local5 as the two main candidates for follow-up. They preserve external ranking while avoiding full 131D collapse.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FB393-BE3B-4675-866B-DC9778F0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C5547-A72B-4FD0-8D0B-60525A6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2AC8-7C16-4084-9243-DF8612B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2. 对照基线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19C35-EA0C-45D0-B94C-36B89FF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Keep all131 local5 only as a negative control: high EENT, poor SVD. It is useful for showing why feature restriction is necessary.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DC256-8A83-46BB-9F1D-7497177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D635D-E29A-4314-A0F6-B097B90C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F6BAF-FF2E-4C19-88E9-F7AE56FD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3. 校准策略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39D32-968D-413D-A408-EB14447A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705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Replace test-set Youden/SVD scaling with validation-derived calibration: EENT-val threshold, robust scaling, clipping, or domain-aware normalization.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B3130-22CD-42FC-8B67-794F2DCB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942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Decision rule for the next run: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5831C-A304-449D-8558-6BC6DA3A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942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If the goal is publishable external evaluation, report fixed-threshold or validation-calibrated thresholds only. Use Youden and SVD-independent scaling as diagnosis/upper bound, not as final metrics.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EDB7B3-DE25-464E-AF17-5B856BAD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Practical next experiment: pathology22/source_tilt + validation-threshold selection + static z-score clipping against EENT-train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1536454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C0553-5297-43C0-AA71-2C08B3F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795B-0884-41CD-91BC-0C1E7E53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CFCB4-5366-49D8-8F7E-2AC43E63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4701E-3CB1-4DBD-A295-277D0283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Youden summary table for all static-feature runs.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B0B9-0A3B-43E8-9566-AD225DB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Combined /a/+/i/ only. EENT rows omitted here because external SVD is the decision driver.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3B17-1E40-4A4D-9764-1A43C4A1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EEAD5-EAC4-4BD8-AEA6-0F6FA602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9DCE8-9239-49AF-8970-7F4A613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87C33-54CF-44B1-823B-E41131E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ECD63-130C-4DFE-9A30-50BFD0C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41CCE-07E6-45A0-BE3D-AD19DEC5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7642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loc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ECAFE-9D95-4FC4-AB98-C24027C1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C3F02-6E77-407D-886D-7255586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7642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E46F9-CC1A-4A66-8298-14F53B4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1C2D3-95C5-4FF6-80CC-C8405C4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764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C6383-F339-4E97-BBBA-C9000D9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80BE8-8B2C-4A90-A8FE-85CA6AA3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764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5F5CD-E9DC-4C0F-A5CE-4F13DDB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8737A-7254-4DCC-98B0-4BAAFBB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764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B00F2-66FA-4DBA-B4D8-527AB52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40681-3F1D-4F92-A72A-4090ADD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764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spec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D2C43-68AC-4B8E-B79B-032955E2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5F9B9-BDE7-48CE-A207-B407D5DE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764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6A2A0-D046-49B0-9F9E-5AA78BC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C3493-97D5-4F32-B7FC-C13B5A2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88385-3A70-4429-8ED4-F25AF823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6692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7FE2D-3066-440F-BB6F-E2EA6D32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3360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1AA28-287E-423C-A3B7-EEC66528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6692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D011B-356E-4F7A-8A70-85651B4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3360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CBF14-10AB-458B-AA44-A8B9148A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669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A35049-1684-41F8-AE17-B30C1AF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0.590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BA0A5-ACE2-4139-AF9E-919210A9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10F1AF-841F-4E8F-8D75-24F76045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0.435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18734B-23A6-441F-8FE2-B852682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669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A17BAC-1FA4-463D-9FE8-2E0D013F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A6119-E723-4346-BC45-3BBDC210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669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33175-33E9-4774-BF90-2DB6C20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122B8-6FFD-4717-9DF7-07035EC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6692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D08B9B-7791-4C36-BE33-8713245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[92 8; 70 30]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26F83C-1ECC-4AF8-9574-E116BC2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5EB393-907C-43C0-B4F9-C1446AC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14D0E8-396E-4D21-B8BD-363AB20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2410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032C33-A39F-48D4-9C89-28D32525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9077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1C401A-4395-4786-86E9-FBE2816F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4AE0DA-0F5C-4462-A56D-7A833755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9077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210050-AE0A-4F2C-93D9-6B5EE7FE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717343-A5DD-4EC7-AE5C-8D0CC142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907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0.760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E1941-ACDC-4BF5-8F1A-871308C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F3A78C-9115-4AF1-A9FD-CA0FA7F2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907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8E42C6-4D2A-4B87-8DD0-8A0750B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DB2534-A4B6-4D2C-95A7-6A2D253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907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5CE099-7568-41DA-BF14-00FEF34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029424-0601-493E-A200-7C5CC8E5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907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6FC539-E7C8-494F-A3B4-EC74F96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2117AF-C7CF-4A8C-A483-46982BF3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907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[72 28; 29 71]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0B4C99-DA57-43D8-80A9-7AE56EF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45321D-96B6-4709-BF17-FB5884A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C6A1D6-0594-4BBF-B189-2BECCB5E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8127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7BD0D7-4491-429C-84FC-57763CB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4795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5CE03E-36E5-4C24-A72D-D3FB6BFC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8127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010182-230B-4D20-BCC7-91B2AC7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2627D2-9309-494C-8435-38C7FFB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812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AA93EB-F9D5-42DF-95A8-9207761B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0.593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BF45BF-4887-4ED7-8AB0-AB38B4E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812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7F5347-DD99-4DBB-98BD-5201D5B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0.552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EF1760-86B3-4B13-8C3F-F16993BC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812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895653-E8C3-4080-8B2B-401DD60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0.48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AE26B3-F12A-40EA-A8D5-8165D50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812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795CDB-2A84-446D-810D-B35AC8B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F673D3-E35D-4C69-80D8-5EE821B3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8127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A191C1-D310-4AC0-8B99-59297807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[74 26; 52 48]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1F9672E-8A30-4C54-BFDB-2F6B946A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8C3E78-34F1-4EC5-A5C4-6555D26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all131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05D980-3F7D-4564-AE3C-4745FFAD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3845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EFCDF0-F840-448C-8563-648AB429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C74326-33C4-4ED3-9D63-02894FE6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0B213D-1B00-4397-BDF4-1971AA1B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6BA79E-89F8-44EE-966E-84609C9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384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2C0AA3-3858-4ACA-9120-81A0B55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0.723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299647-D65C-4F2F-B0D4-3833C5FC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43DD4B-D97B-4F9A-81A9-FCB7017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051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01E15C-8D62-41D9-A272-1399365C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C3B8A2-F6FF-40A5-95C4-EB3C8011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565AAE-78BF-4D8B-9EF6-1EA5E4AA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384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55987C-0C9F-4EEB-8BFB-0DE355D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7A3CAA-9C27-43BA-9CA0-BB7980DF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BC30AC5-5573-4536-9DC9-110CECAC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051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[64 36; 29 71]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FE5131-1AFC-4099-B658-D3003AE4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9562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8D0611-D9A2-4231-ACAB-AC53CB9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603CF2E-1D5B-4961-A953-1FCF53C6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9562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1BE71B-BA22-496A-B6AD-2131594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FE4446-3899-49D0-A022-D2E9DE62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9562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765E5F-2898-4CE0-9345-12FF7772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247BF3-9127-45CB-99D4-89735CEE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956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020D0E-7CBB-46C6-AD7E-F0D281FD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623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48F1F34-241B-40D7-9803-E75A3C02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FBC76E-17C7-4A6A-8F45-9762A403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0.779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2195CC-7B63-476E-9383-A2FB315C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55094E-3B22-420D-9D45-220EDBE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79A2E8-4D1C-4684-B311-46BD701F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956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17AE53-C8FD-4062-A914-9A0F76C2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1671855-7542-46EF-A74E-9A8DB603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9562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54AEE7-B321-41C8-AB77-5C52F77C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6230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[73 27; 19 81]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D06A1D-C80F-4E88-A971-C172484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1CD9247-5F3E-4640-9882-F2F85BEE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685496-85A3-4952-8F61-253192F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5280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F8F8BF-B5F6-4830-958E-B0F57DA2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1947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3694120-2946-4285-BDE4-B1746745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F032DD-43A9-4305-9344-81F25645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1947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A0D5AD-9876-4DB0-B06D-C1DCD04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528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AACDE4-0E0D-45E9-9C2E-E10154D4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194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0.841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9380E74-6FF9-4A70-98DC-3B287D2B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41E3CBD-0203-4F2C-8310-85FDBE9B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194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0.788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D1DFB4B-90D3-4569-866B-5A5D422C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E5394A-796B-48C7-8512-1FC11D7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194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19B2B7D-78B1-470C-9A8B-D0D00C8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129EA7A-8B5B-452A-ACAD-AE71DDA1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194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890F7D7-2CCA-4065-BE1E-80F595FE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16822AE-37CD-48B0-BF65-52A62FE5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194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[80 20; 22 78]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7AAB823-7C9A-4FD9-8618-F6CC9F7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52A3582-A719-41A9-BA22-CEADCE0D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30711A-873B-4E3F-AB0B-CE5B26F5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0997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515B498-1942-4C9E-BC1D-94C5347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56D9810-C895-456F-BA6B-AB5D4CF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D8D8D1E-9C46-472B-A3EA-4AE33F0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6EB68F-713B-4F32-B205-DB0B9C0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099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903F49-4BB6-499D-ACD9-4B25190F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3CCC6E-D06D-406F-888F-CEADD3AE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4B5B0CF-E714-465A-97A1-64C4B3D0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4AF0080-F250-493E-A12B-8F60C6BE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99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5EB59D9-BB20-477C-9B2A-A3AF64EA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CEB408D-B080-4A5E-91DF-5DE54FD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99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B771CE-99D7-4C61-9740-59B3BAB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766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FB67D53-81EA-4BBE-8B32-0115DC2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997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7C39FD0-0DC0-42D3-B817-00DEE3C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7665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[74 26; 26 74]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7C8203-035A-458B-BA33-5280A4A5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96B4D94-8F18-4E45-81CA-EFB73618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pathology22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B896EB1-3A71-4DF0-BAE3-DCE478B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6715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762CCED-9B35-4FF0-ADCE-EBBEA387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3382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31B4818-0DF0-48AE-955F-3A6E75B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6715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2CE6DFB-C435-40AE-854F-52B6BAB7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3382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BE81146-F5ED-49DC-BC48-8F3F72DE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671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850D220-EE31-4640-82F3-D44772F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338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0.828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31DE36D-0182-45EB-87D4-E940B5E1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671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9FE5886-68A4-4C66-BB3C-621B6FDE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338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0.745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600069F-62F3-42B4-B32C-E1BE8C4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1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E467C86-4840-4738-8582-483966D6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338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33DFE3A-5DBE-4146-9F9E-04F6E754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671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98CECD-0098-4BEB-B5C3-6A0FDF9D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E0EBEB7-6608-4307-BE40-014FD799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6715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F01D41A-650A-4ECB-9B83-FCC1580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338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[77 23; 27 73]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1308AE4-59E5-4C40-935C-0681CCF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464D494-898E-4FC0-94BD-372702F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323DD41-E28E-4CF5-8181-043D75EB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2432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76D397A-82F2-4518-BA65-43CCB8F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B27A8F1-E1FD-4873-A0E5-3248F026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2432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1C1856-6CFC-4F8F-81E8-FAA1B757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5A5A499-7943-43BD-B664-A97CEE4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243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8B2177E-EA0F-4E8D-97A3-6BA1468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910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0.836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2B5FD92-CED5-474F-A98E-3EFF091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EC3D16B-1F6A-4EEF-8F75-3F984FA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910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14A429C-388C-46DE-AACE-0EA5AFC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4BA2737-9897-4F87-B214-379AC11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0.63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18883FF-06F1-4FD3-AB8A-9EBC2F1D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243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DA8718D-036C-40BE-A183-8570D70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B52036D-FF20-4759-90F9-8123ADEA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2432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E13DEA7-4E81-4ED8-8A39-4D21B0A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9100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[93 7; 37 63]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1730803-7326-4B96-B212-FC622D1F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3B12C6B-1B90-4591-BF16-A499C47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2E3A170-CBB2-41F2-8F67-3226C77C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8150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BD88F47-C32D-473D-A782-B11727B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4817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2DA61F1-38D2-448B-B30A-5F8A1D2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8150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D5407AA-2C02-4031-A3FF-1E11C778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4817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05EA8C80-A81F-4BD3-97F2-F7BCA395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815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B5FE4D3-A7C3-410B-9417-BADFCF56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0.860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3FA36F5-B5CC-4D02-96C6-AFE574B6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DBE897B-18F1-40D5-890D-8384D66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481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0.741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1FFCE0D-6D8C-42DD-8534-56F7E88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815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C34BF7E-A137-450A-ABA8-904486D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481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0.63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00D65B0-E1AA-4462-ABC5-50D24B9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815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E72519A-8E1A-4979-92FF-F88789C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481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33A1BB8-7CB5-4654-B767-4681FA33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8150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0924542-D287-4DB3-9053-425A9E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481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[93 7; 37 63]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8313539-DA0E-40A2-8F83-A982AA52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342F0A8-09E5-4437-8ECD-74765945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861B8B7-335D-428F-9E71-820127B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3867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B843A31-9A81-4A7F-BAC9-7787084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0535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9D36357-749F-4A39-9717-5B283C9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3867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70E9553-F579-446C-A553-6E094A9A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63E335A-0C98-4105-9B55-BE349723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386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38ABE0F-E6E6-4A67-B721-B5CE13A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053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0.834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7C49DCE-6AD9-45EF-84A3-7EFC724E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386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DD11ABC-8038-48F0-978C-985CFE2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0.776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D39CD84-DE94-4FD5-9B5E-369A5B3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386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28957D4-DDD0-4376-BBAB-2EC20B8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0.78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506B6A3-3985-458E-817F-F40CFDC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3B248CF-0123-4344-835D-1DB61BA4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053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7E52856-CBE8-4B27-A42E-B679A2D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3867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BF9CAC0-55C2-43C5-BCD7-958F19DF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[77 23; 22 78]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5239FF5-A5F7-488E-A65D-7065450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BFB617F-17E5-4CCD-A965-A5CF611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source_tilt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C4CAB1E-5324-4283-82F7-331D273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007FE88-87A1-4DB1-9587-7CD3ABC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6252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2368DE6-7D28-44FF-80F4-D24CCEAB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9585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6EC0021C-02A3-485F-8FFA-A498D247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1609863-FE5A-4FE0-A2E5-EA33C75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958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229629C-A9D4-4139-AB8C-E8EEFD02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625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0.831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5E9CD57-913B-4549-A298-FE120397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BCBF894-313A-457E-A938-EE0396DE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625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0.777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4549421-8C29-462D-B24A-0F7E21A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9C3B0639-9A29-4B98-BDF7-6178D47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625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0.75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5220B49-E581-4660-ABCF-1AFFFF66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958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493D26F-8168-48B9-8DCB-B60A87F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625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33AF7CA-FA9A-4C59-8B9A-84EFAFB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9585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01D0954-CB67-4C80-93F7-7AD5D261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625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[82 18; 25 75]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9320760-92BF-4614-8512-AE16FDB5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5302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CAF910FC-31E3-4DC9-8C5C-2458EACC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C86F37E-9C14-4401-9B36-FAA0D04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302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140ADF0-12E4-447B-B9C5-538B2DA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1970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704AA6A-9700-49E6-ABE0-9F085D4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5302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7BA5C974-56D8-42F2-BCF5-6679F7E5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9EDC246-C9B0-4017-A25A-E60861F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530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6BFFAFC-91D1-4FAD-925C-FC5ADE9F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E5B0871-DD03-4BCA-A7A3-9669927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530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CA82616-2741-4A7A-B7AC-BA5AA8AD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197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0.711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DE0B397-3F33-431A-9514-2CCF2B7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530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D520354-968A-4B5D-8BC5-CEA615A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0.64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F42640D-4489-46BA-A0D6-1348BCE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5302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E639751-9A62-4BE5-A058-B62729C7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0.84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104C35E-6F31-4814-A6A6-4901BF3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5302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95A08A9-3E9F-4790-A6BD-9E978A1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1970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[84 16; 36 64]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A747A76-67EC-449C-8069-BE3722A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8709A6B-A1FA-4C09-A38F-D1BFEC49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C444C26-151C-4FD6-9DA9-2D3F160C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3CE614D-5E2C-4AFB-ADD3-71DD5AD5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7687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C6097070-341A-48A7-B6C1-31C88C72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020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E75DD09-49F3-4919-ACD0-22E9E25F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59682EF-F537-4088-B6DE-117B3F5F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102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DA48381-E811-4AF3-AC11-2DA5E46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768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0.826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AEBC383-61E7-4EBA-8EB6-2702729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102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2478E31-0565-401C-ACE8-D99C1EF6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4768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0.705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F3A94B3F-0977-4E9E-A2E1-DC71455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102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85DAAA36-24D6-44DD-8E45-F054A8E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768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0.62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60F57B41-B63B-46FA-B918-DFB8D2C1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1020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4172C9A-29D5-47E9-9C7A-BF051EA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7687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0.86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9A5E3B2-18DC-4331-9BED-57FB4DCC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1020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C2BD0FC-ED58-46C8-A3D1-D57282B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7687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[86 14; 38 62]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0D8AD1B-8548-4EED-9912-61A9C4F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67375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000F964-B074-4CD7-833C-73A17E7E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0526A7E-E9C6-4938-9962-14B147B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67375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7DFFC05-501E-4AFF-A4E0-1E55C2B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34050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BD668BB-EFAF-4905-A30C-66B0C9F0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67375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025A039A-017B-4024-9700-4FDF9B0C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34050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B219592-8F67-49B3-87CA-C4F83187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673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68E0A53-ED1E-47E4-AD64-E7FD2F9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340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E62432E-0EF5-468B-90DD-F54527A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673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D54686D-78E6-44E0-AF85-E4524A68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7340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0.739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4E03A34D-97EF-40EA-870B-A220AA13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673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B707900-496D-463D-8B3D-02262756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340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0.72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F448D10-1F7C-4AE1-840D-A16325E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67375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AFBAEDF-43C7-4357-8884-9115AEC4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34050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0.77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4B627B2-A3FF-48BF-A896-A66B872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67375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63A7744-6665-4DCA-8EEA-C1CDE5A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[77 23; 28 72]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4BA7382-6BA4-4238-9A1D-0636F3D7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543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804B3B9-56DF-4B89-9AA3-74E21355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13906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voicing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1D237EEE-30C2-4960-A8C0-24362CE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457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8683503-1AA0-4F58-874E-A2FDD15F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991225"/>
            <a:ext cx="3048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L5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31001CA-75E9-4CB0-A34F-C0BE0795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924550"/>
            <a:ext cx="590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8CD923F-82B0-42D1-83F6-4A1EBCC7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91225"/>
            <a:ext cx="438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FF13F72-9025-4B9B-897E-5E1841A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245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6BF692F-B230-4F85-A7C2-FE10F56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912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FD1F8F9-59D3-4EB6-9D11-763FC5DC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245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A7EAD5D-2788-40E8-81C0-4B8E6D98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9912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0.781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084F5BC-A83B-4C8A-8D67-FCEDB12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245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954D61F-542A-4C84-B40C-0A397C3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9912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9DB2BB6-BB42-45FF-91B1-E1D36CD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24550"/>
            <a:ext cx="6286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543EB24-7940-41A8-A8EA-AEF67D2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991225"/>
            <a:ext cx="4762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0.55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EA6C2C9-045C-4797-AAED-8A10C97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24550"/>
            <a:ext cx="1466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0989F7A-1C6D-4B33-A7CC-4B27FE64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991225"/>
            <a:ext cx="1314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[55 45; 7 93]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F4E65BAC-2268-4C3D-81F7-34DA53AF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Best strict row:</a:t>
            </a:r>
          </a:p>
          <a:p xmlns:a="http://schemas.openxmlformats.org/drawingml/2006/main">
            <a:pPr algn="l">
              <a:def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source_tilt L5 + EENT scaling</a:t>
            </a:r>
          </a:p>
          <a:p xmlns:a="http://schemas.openxmlformats.org/drawingml/2006/main">
            <a:pPr algn="l">
              <a:def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F1 0.776 / AUC 0.834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103E4D0-D235-4F0F-9B34-0A843E2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71875"/>
            <a:ext cx="2724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Best balanced diagnostic row:</a:t>
            </a:r>
          </a:p>
          <a:p xmlns:a="http://schemas.openxmlformats.org/drawingml/2006/main">
            <a:pPr algn="l">
              <a:def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pathology22 L1 + SVD scaling</a:t>
            </a:r>
          </a:p>
          <a:p xmlns:a="http://schemas.openxmlformats.org/drawingml/2006/main">
            <a:pPr algn="l">
              <a:def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F1 0.788 / AUC 0.841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D50E2D8-ECE3-4316-828F-5C8978EF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Do not treat Youden/SVD scaling as final deployment metrics.</a:t>
            </a:r>
          </a:p>
        </p:txBody>
      </p:sp>
    </p:spTree>
    <p:extLst>
      <p:ext uri="{BB962C8B-B14F-4D97-AF65-F5344CB8AC3E}">
        <p14:creationId xmlns:p14="http://schemas.microsoft.com/office/powerpoint/2010/main" val="5396543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7A4A2B-7FD5-4A46-80B3-8983C30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C58FC-945B-4F55-9D07-8D59BCB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CD6CC-6F08-4E34-853F-5CC9A550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BASELINE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88052-35BE-4F2F-9C65-61ECA95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fixed 0.5 口径下，Paper2601 all131 L5 是 EENT 最强，但 SVD 明显输给 split baselines。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C2B7B-1C8C-436F-98C3-A61A062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所有行都是 combined /a/+/i/ patient-level 结果；CNN / split CNN / split SSAST 来自 saved_models eval 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3BC3D-4186-45C8-A5EC-7C020A3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92902-CDA6-4F78-9CB2-DB2FA9E4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67E08-E357-42C0-890E-0AC5C46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316D3-17AA-44A5-BFDA-C6B4F2B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16CEC-F139-49DA-A682-3982D5DF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526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E627E-F044-4D4C-9C65-FD59008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193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 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7E778-3633-4FA9-9923-71BD4D53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BE925-96CA-471C-80BF-0BF38E01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D5FE5-242F-4709-9FF3-E85627E3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AA4E-2A83-4C2F-8F46-B2B784AC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 AUC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5D6C0-4E16-42F5-832C-86A3689D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7B738-0028-4704-9B51-D18B04D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193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Acc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D23CB-074D-4712-85D9-989BD36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05362-4093-4B61-8AEF-A723133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F3FE8-D76A-4C53-9CAE-A3A61B3F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526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D266B-0F09-44AA-8FE1-DEF6BF7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193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AUC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EFBA8-7C34-4E80-A966-EE92140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526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1EC62-29F2-41A8-AE26-24AE2310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 CM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373BF-D3DA-4F66-B459-E89ACEE0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955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F0581-63F6-43DA-A61C-C662583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central CNN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022E33-C79D-427E-80CD-013E95A2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955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DE8172-ED69-4959-A553-6812CCEC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62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968065-C485-466E-8B55-1AF8C96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955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14C1E-B649-4627-9E51-2E13FC8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612EB-8A22-4B4B-ADD3-8FFEE38A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955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71F96-D7EC-4368-914D-3CE1724A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0.973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C7A99-526C-48B8-8C2B-297AD7B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955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0DC57-3F5F-49D5-A9D9-BB56C342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622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0.770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D07249-5302-4266-A92B-AFAFDDF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955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DA294F-8E32-4D5A-AD37-08FD60C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625C1-700F-4243-B56D-CAB6584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955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286C0-CD60-4941-B395-9203ED2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0.934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B9AE4A-CE77-4B2E-B5A2-ED0F6472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955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4CD72-70DA-4068-A5C9-9E51E29E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[56 44; 2 98]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CCA1C2-AA07-4141-A195-A250541C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466DBB-F73F-4EB0-BC71-355C1119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split CNN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397322-8D3B-4A37-9E66-E1ACCD40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384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B2BF89-9757-41CF-A41D-55AC2BF4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563799-E603-40FC-AAE1-D489992C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384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ADE2AA-85C4-4351-ADB9-9C1DF71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0.941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E4D532-3AC9-49CC-B290-CB4001A6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384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E48B61-CB3D-4597-A25D-1EC06CF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F41CA0-1151-4690-B7C0-0B6E9444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384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601553-3924-4388-BDB6-3A0AEDF6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0.790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4B1D0A-E57E-43A6-AFB4-590EE06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384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60E099-B380-4E28-83A8-C39829B5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0.822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493C16-D6AD-40D3-87A3-4B6FA1E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4576AC-B46F-400F-8F35-71B46D69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0.919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184CC7-A34F-485A-874F-9CAF43E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384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5230DA-CAC4-43E6-8EDB-6AF24A2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051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[61 39; 3 97]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2C09C6-D9E6-4651-8C28-F811F3A0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226363-5234-4A15-8625-6EC897FF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split SSAST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3FFD50-1A46-48CD-AC7B-6B8FA20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813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B6A55-4609-4F4B-B1C5-3B46FDB8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0.890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D44B9F-8592-410F-93D7-4DABFAA3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81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B48B9C-FAEC-4D1E-9E15-56D49B2D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42EB3A-581A-4719-BA9F-FED92D99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81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FA1174-D0BA-41F3-9CE7-A37A6C6E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0.941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78837E-A979-4B60-82FC-3EC9D9D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813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954F7F-16E2-4DDB-BDC7-5EA4BED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0.830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E391AC-60AF-4A21-A13A-C9893399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81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0A8FEB-1EFF-4175-9136-A857F660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0.835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119F33-0688-4A21-AEA5-D6162AFB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813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BEB75C-7317-43B8-9F72-73D4950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0.924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56EAF6D-C5B8-4C6F-A640-DF241063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E0B098-8FA9-43F3-BBF2-F167558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[80 20; 14 86]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F5F834-DA53-44C2-9E9E-947733C0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10B6B9-BFA9-4EC7-B8BA-EB6ADC4A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Paper2601 all131 L5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406441-DA06-42CA-AF26-1374D141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242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5B704F-7679-42A2-906D-A6C522AF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0.941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62ECBE-3FF8-4FE1-955D-28CA6DED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242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4A1BF5-A609-4D02-AFE5-070F6B0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0.951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0373A2-C037-46E4-8550-9D230519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CBC5D4-D801-45F8-8DF4-65053FA6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0.987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0291F2-C468-4291-998B-ECFA841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242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F403FD9-6EEC-4804-A59C-87009A46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909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D3E15E5-3743-46F7-BBCD-95F4647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242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F4A66C-259A-4C44-9F63-0DEC989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0.667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8691A9B-7B14-4DC2-8741-092F5CD0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242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A44A496-7C47-4DE8-B8DD-B30AFC3C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0.593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BAC16A-8115-48C3-ADEA-7FFDDFC1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242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9633F67-B8EA-4113-8E5B-0E91DCAD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[0 100; 0 100]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174A3C-771F-4E09-AE09-24889E70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671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941E21-D0E4-4DC8-8CEB-B4D7FC8B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Paper2601 pathology22 L5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EF1326-362B-44DA-8DCE-4508364F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671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29C296-DD71-4A84-A075-B72BAAAF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0.890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C05AFF-36B8-4F0C-97C6-C6255D9D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671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9E56CE-8399-4D84-BAC3-2EB9D4B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0.912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B4A4B37-C8F6-41E2-9998-838526A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671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C10EF4-5123-437C-993F-5B8F1355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0.930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C2853A-BF3E-4686-A69F-6EC3E5AC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671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5BFB06-A9D6-4653-9356-9063A816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0.700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AE9CD2-35D6-466F-BA2A-B0FCE268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671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29916C-AC03-4B37-A87B-C45D6E39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4EF79A-CB99-4C0D-807A-A590BE40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CF67E1-079A-446F-8FA5-B75DDE6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0.820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C894B9-8A0E-4A25-9EA0-BCC08E8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671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6D57F5-043A-4708-8686-1834477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[44 56; 4 96]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8E09997-8779-48EB-9A48-11C5355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83702D9-411B-402F-B30A-A0C2BA7B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Paper2601 source_tilt L5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EB4C0A-0C13-454E-BBCC-73D5FA02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00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01B473C-38A0-4AE3-A2A5-166CAD2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767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0.864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62EE60-049B-4DE2-B552-6D49553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00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952E189-651D-4C54-B86D-58BC6C2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0.890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C445609-9458-432B-A9C2-8A5D26C9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00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AA6E9A5-EDEC-45F0-89F0-C10D1B9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0.924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BEC7FD6-9C37-4ED7-83E4-52F7030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100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38E5F5B-904F-4396-A562-D4B6884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767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0.635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C2615F4-EB33-4AF6-93D8-C2BA771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00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015474-5160-4B0A-BFE4-92A395B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75FCCCE-2C00-424A-86DE-680E464B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A7301D-93E9-4252-BA7B-D634EF81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0.834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147188-5605-4118-B214-D22E1D0C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00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C2E3C1-6DB2-4E6C-8213-AC1D7E93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[32 68; 5 95]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436305A-D43A-4DB0-922F-B23EE5CB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67B55D1-EE71-4883-A88E-4396E207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Paper2601 voicing L5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7FBAE7-6C11-4525-B1BC-4AD43A36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529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93EC91D-0A8A-49D7-A6BB-C845AD74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96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0.907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7466452-BF67-49E3-BE0F-63258A4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529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9A44871-CBC7-4349-AF2A-6D6BD2F2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0.923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75F64F-0846-4FE7-A270-33D559E5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529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BFF768-B8F5-4654-8AF0-37DB87D4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0.941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375211B-1E28-41BE-B0DC-45D84018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52925"/>
            <a:ext cx="819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39CBF35-F338-4923-8B84-A634C42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0.655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F4A201-A6F0-4333-8141-75E0491A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529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26EA3BE-3CE5-4B4D-BFD2-D460A04B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0.738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5A326C3-08E7-42CC-9DB3-EC5142C0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B7234B0-26FC-4AF6-97D1-0AFEBEE1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96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0.811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BB69ACA-1365-4373-91D3-8CD8922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5292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6D0C7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1084BBE-15E6-4023-8703-72660EF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196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[34 66; 3 97]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7B2F474-2884-4ADF-8A49-E95BD586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Decision tension: all131 L5 beats split CNN on EENT Acc/F1, but its SVD fixed-threshold result collapses to all-positive. split SSAST remains the best external fixed-threshold reference: SVD Acc 0.830 / F1 0.835 / AUC 0.924.</a:t>
            </a:r>
          </a:p>
        </p:txBody>
      </p:sp>
    </p:spTree>
    <p:extLst>
      <p:ext uri="{BB962C8B-B14F-4D97-AF65-F5344CB8AC3E}">
        <p14:creationId xmlns:p14="http://schemas.microsoft.com/office/powerpoint/2010/main" val="20054571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5174F9-C542-4143-A3BE-81846808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4770C-AAD8-4EE4-9147-E2ACDB7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22633-9FBA-4E0E-9C4E-647E234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7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7566"/>
                </a:solidFill>
                <a:latin typeface="Aptos"/>
                <a:ea typeface="Aptos"/>
                <a:cs typeface="Aptos"/>
              </a:rPr>
              <a:t>DECISION FRAMING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A6281-DEB7-446E-A082-30988AED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如果 EENT 是最终目标，all131 L5 可以作为主模型；但需要把 SVD 风险作为明确限制说明。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E2756-8874-4266-932D-ABE84C0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目前没有一个 Paper2601 单模型同时达到 all131 的 EENT 和 split SSAST 的 SVD。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19449-E9B0-4B6E-82ED-20CA756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Paper2601 Split-MAE experiments | EENT internal vs SVD external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10B4F-B07D-493B-A438-8513569E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5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D858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F576D-F0B2-4B3A-A1EA-AEBA7912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2388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BACD5-8989-456A-9A01-27617D29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8BB42-7E32-40EC-8698-4C38D72B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DAEF7-E25C-458C-8BCD-F3C846BD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863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EENT Accuracy, fixed 0.5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C3DA7-7E79-466E-8D82-EC7FC68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181350"/>
            <a:ext cx="609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SVD</a:t>
            </a:r>
          </a:p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C77C9-02F5-4C9B-AB67-A853C648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42C1D-E09F-4870-875D-F05309D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26701-1E5A-4173-ABF0-60AC3C8F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5048250"/>
            <a:ext cx="9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6D04F-336B-4570-8701-D4C22CF9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850" y="51244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0.88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8D43-113B-4F81-9361-09ACF1E9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5048250"/>
            <a:ext cx="9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29653-C126-4D51-8F5F-CAE0458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850" y="51244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0.92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C077B-7925-4631-A8EA-9D4F8B28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9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E0BD9-26FE-4A4D-BF48-C6D92B7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244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0.96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E0388-73F6-401C-95A8-0C477E3A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7855"/>
            <a:ext cx="66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348C4-468A-46E2-B78C-CD005127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3118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C9004-1C48-4E8B-B1C8-22647123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5487"/>
            <a:ext cx="66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BADD1-A478-4B65-96F2-7BA9F597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8812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0.62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A284B-854E-42E4-973E-10F25ADA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3118"/>
            <a:ext cx="66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4417E-43AD-4F85-9D0F-10D3F1B6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6443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0.74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A93EE-3DD7-4E16-B84C-ED93B63B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90750"/>
            <a:ext cx="66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24047-CC16-43F9-B054-F5884520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240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75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0.86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72C9F-5BDF-4E9F-882E-D3D8BC3D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965" y="2669507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1F636-B19C-49F8-8618-DED187C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790" y="2640932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3867B7"/>
                </a:solidFill>
                <a:latin typeface="Microsoft YaHei UI"/>
                <a:ea typeface="Microsoft YaHei UI"/>
                <a:cs typeface="Microsoft YaHei UI"/>
              </a:rPr>
              <a:t>split CNN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C5F5DE-60E3-4C75-B705-77FF3C0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2368717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8D6D50-1CC8-4E78-A6E3-35BA2B1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110" y="2340142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277566"/>
                </a:solidFill>
                <a:latin typeface="Microsoft YaHei UI"/>
                <a:ea typeface="Microsoft YaHei UI"/>
                <a:cs typeface="Microsoft YaHei UI"/>
              </a:rPr>
              <a:t>split SSAST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B56C2-E141-4710-880F-3CBB41A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790" y="485023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BC715A-1772-4F02-9F1C-3548315D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615" y="482165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B94A48"/>
                </a:solidFill>
                <a:latin typeface="Microsoft YaHei UI"/>
                <a:ea typeface="Microsoft YaHei UI"/>
                <a:cs typeface="Microsoft YaHei UI"/>
              </a:rPr>
              <a:t>all131 L5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C61E12-2D7D-420B-AA4C-A54964A2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285" y="334628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6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07049-9BF0-432A-BAE1-C16F38D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110" y="3317708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C9862A"/>
                </a:solidFill>
                <a:latin typeface="Microsoft YaHei UI"/>
                <a:ea typeface="Microsoft YaHei UI"/>
                <a:cs typeface="Microsoft YaHei UI"/>
              </a:rPr>
              <a:t>pathology22 L5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A30E55-CB25-49EB-A414-499F5D7D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935" y="3684671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C6DCE4-AD67-490D-86EA-85499FA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760" y="3656096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D5AA7"/>
                </a:solidFill>
                <a:latin typeface="Microsoft YaHei UI"/>
                <a:ea typeface="Microsoft YaHei UI"/>
                <a:cs typeface="Microsoft YaHei UI"/>
              </a:rPr>
              <a:t>voicing L5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75CEB6-0DAD-4AED-88E4-2FF7744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801946-25F2-4BE6-BF6E-7B1A57E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C3AF7-ED80-427D-856A-F49460CA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My recommendation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E74B21-A0D7-43FD-8BA4-EBB749CD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Report all131 L5 as the EENT-optimized Paper2601 result, because it clears split CNN on EENT fixed-threshold accuracy.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E3734E-C549-48A0-98C9-96F0738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D05DE7-637C-4837-A833-CD9DCA6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0970E1-E615-4F8D-BAEB-39CB2306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But do not hide the tradeoff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815B35-BAB9-415F-A198-1E898A4F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3086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For SVD, compare against split SSAST and show pathology/source_tilt ablations as robustness diagnostics.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5EA3FC-AD2A-4099-9B67-19E3D61C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42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30301E-BEB0-4B12-9406-AC73084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A8C839-319F-4F7F-B9C2-957AA425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17202A"/>
                </a:solidFill>
                <a:latin typeface="Microsoft YaHei UI"/>
                <a:ea typeface="Microsoft YaHei UI"/>
                <a:cs typeface="Microsoft YaHei UI"/>
              </a:rPr>
              <a:t>Next technical target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C76DF-4D65-401D-A376-0590A44B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308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69727F"/>
                </a:solidFill>
                <a:latin typeface="Microsoft YaHei UI"/>
                <a:ea typeface="Microsoft YaHei UI"/>
                <a:cs typeface="Microsoft YaHei UI"/>
              </a:rPr>
              <a:t>Keep 131D capacity, but add validation-calibrated thresholding, static z-score clipping, or feature-gated attention.</a:t>
            </a:r>
          </a:p>
        </p:txBody>
      </p:sp>
    </p:spTree>
    <p:extLst>
      <p:ext uri="{BB962C8B-B14F-4D97-AF65-F5344CB8AC3E}">
        <p14:creationId xmlns:p14="http://schemas.microsoft.com/office/powerpoint/2010/main" val="1500182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2026-05-12T13:21:20.2750000Z</dcterms:created>
  <dcterms:modified xsi:type="dcterms:W3CDTF">2026-05-12T13:21:20.2750000Z</dcterms:modified>
</coreProperties>
</file>